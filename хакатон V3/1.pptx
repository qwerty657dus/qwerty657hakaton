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</p:sldIdLst>
  <p:sldSz cx="14630400" cy="8229600"/>
  <p:notesSz cx="8229600" cy="14630400"/>
  <p:embeddedFontLst>
    <p:embeddedFont>
      <p:font typeface="Lora" pitchFamily="2" charset="-52"/>
      <p:regular r:id="rId10"/>
    </p:embeddedFont>
    <p:embeddedFont>
      <p:font typeface="Source Sans 3" panose="020B0604020202020204" charset="0"/>
      <p:regular r:id="rId1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6975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3118961"/>
            <a:ext cx="1844754" cy="449818"/>
          </a:xfrm>
          <a:prstGeom prst="roundRect">
            <a:avLst>
              <a:gd name="adj" fmla="val 6386"/>
            </a:avLst>
          </a:prstGeom>
          <a:solidFill>
            <a:srgbClr val="E2ECD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81313" y="3190756"/>
            <a:ext cx="155757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ПРОЕКТ «ПТИЧКА»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82728" y="3739781"/>
            <a:ext cx="866036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00"/>
              </a:lnSpc>
            </a:pPr>
            <a:r>
              <a:rPr lang="ru-RU" sz="4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Эко-рейтинг: система учёта экологической активности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37724" y="472749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Простая регистрация, честные баллы, защита от накруток</a:t>
            </a:r>
            <a:endParaRPr lang="en-US" sz="18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008871-FADD-DD4D-64DF-7B93113ACA64}"/>
              </a:ext>
            </a:extLst>
          </p:cNvPr>
          <p:cNvSpPr txBox="1"/>
          <p:nvPr/>
        </p:nvSpPr>
        <p:spPr>
          <a:xfrm>
            <a:off x="9498092" y="6098235"/>
            <a:ext cx="51323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Проект выполнили</a:t>
            </a:r>
            <a:r>
              <a:rPr lang="en-US" sz="2000" dirty="0"/>
              <a:t>:</a:t>
            </a:r>
            <a:endParaRPr lang="ru-RU" sz="2000" dirty="0"/>
          </a:p>
          <a:p>
            <a:r>
              <a:rPr lang="ru-RU" sz="2000" dirty="0"/>
              <a:t>Ученики МАОУ ДО «Технополис»</a:t>
            </a:r>
          </a:p>
          <a:p>
            <a:r>
              <a:rPr lang="ru-RU" sz="2000" dirty="0"/>
              <a:t>Шевченко Андрей и Кузьменко Александр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484233"/>
            <a:ext cx="942856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38512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88933" y="1563648"/>
            <a:ext cx="64043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ЗАДАЧА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045018"/>
            <a:ext cx="681382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Что требовалось сделать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37724" y="3108008"/>
            <a:ext cx="4158734" cy="3637240"/>
          </a:xfrm>
          <a:prstGeom prst="roundRect">
            <a:avLst>
              <a:gd name="adj" fmla="val 987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868204" y="3138488"/>
            <a:ext cx="4097774" cy="718066"/>
          </a:xfrm>
          <a:prstGeom prst="rect">
            <a:avLst/>
          </a:prstGeom>
          <a:solidFill>
            <a:srgbClr val="F3E7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2737604" y="3273147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07519" y="4095869"/>
            <a:ext cx="324362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Автоматический расчёт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07519" y="4591407"/>
            <a:ext cx="361914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Создать систему, где баллы начисляются автоматически по заданным правилам — без ручных правок и ошибок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5235773" y="3108008"/>
            <a:ext cx="4158734" cy="3637240"/>
          </a:xfrm>
          <a:prstGeom prst="roundRect">
            <a:avLst>
              <a:gd name="adj" fmla="val 987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5266253" y="3138488"/>
            <a:ext cx="4097774" cy="718066"/>
          </a:xfrm>
          <a:prstGeom prst="rect">
            <a:avLst/>
          </a:prstGeom>
          <a:solidFill>
            <a:srgbClr val="F3E7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135654" y="3273147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501679" y="4138399"/>
            <a:ext cx="361914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ru-RU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Капча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05569" y="4591407"/>
            <a:ext cx="361914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Гарантировать, что каждый участник — настоящий человек, а не фейковый аккаунт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9633823" y="3108008"/>
            <a:ext cx="4158853" cy="3637240"/>
          </a:xfrm>
          <a:prstGeom prst="roundRect">
            <a:avLst>
              <a:gd name="adj" fmla="val 987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9664303" y="3138488"/>
            <a:ext cx="4097893" cy="718066"/>
          </a:xfrm>
          <a:prstGeom prst="rect">
            <a:avLst/>
          </a:prstGeom>
          <a:solidFill>
            <a:srgbClr val="F3E7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11533703" y="3273147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903619" y="4095869"/>
            <a:ext cx="361926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Удобство для администратора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903619" y="4943356"/>
            <a:ext cx="361926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Дать администратору простой и понятный инструмент для внесения данных о сданном вторсырье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7994" y="249206"/>
            <a:ext cx="1086088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38512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89203" y="328621"/>
            <a:ext cx="78366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РЕЙТИНГ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37994" y="809991"/>
            <a:ext cx="742259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Прозрачный расчёт баллов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37994" y="1813093"/>
            <a:ext cx="6594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Система считает баллы по простой формуле. Каждый тип вторсырья имеет свой коэффициент — например, пластик «стоит» больше, чем бумага.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337994" y="3017869"/>
            <a:ext cx="7200489" cy="1017151"/>
          </a:xfrm>
          <a:prstGeom prst="roundRect">
            <a:avLst>
              <a:gd name="adj" fmla="val 353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09" y="3366603"/>
            <a:ext cx="283704" cy="2393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828" y="3316954"/>
            <a:ext cx="623047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Формула:</a:t>
            </a:r>
            <a:r>
              <a:rPr lang="en-US" sz="1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Вес вторсырья × Коэффициент материала = Баллы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37994" y="4194580"/>
            <a:ext cx="720049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Коэффициенты заранее заложены в систему и не могут быть изменены вручную</a:t>
            </a:r>
            <a:r>
              <a:rPr lang="ru-RU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5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458A1C5-55AB-6D72-5848-2380AE4C0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7975" y="809991"/>
            <a:ext cx="6857998" cy="70831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395055"/>
            <a:ext cx="1648778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38512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88933" y="1474470"/>
            <a:ext cx="134635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БЕЗОПАСНОСТЬ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5446" y="1843147"/>
            <a:ext cx="848475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Как мы гарантируем честность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37724" y="3018830"/>
            <a:ext cx="4158734" cy="3815596"/>
          </a:xfrm>
          <a:prstGeom prst="roundRect">
            <a:avLst>
              <a:gd name="adj" fmla="val 941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077039" y="3258145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4445" y="3455551"/>
            <a:ext cx="323136" cy="3231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7039" y="4215527"/>
            <a:ext cx="336018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Подтверждённый номер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77039" y="4711065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Только пользователи, подтвердившие номер телефона через SMS, участвуют в рейтинге</a:t>
            </a:r>
            <a:endParaRPr lang="en-US" sz="1850" dirty="0"/>
          </a:p>
        </p:txBody>
      </p:sp>
      <p:sp>
        <p:nvSpPr>
          <p:cNvPr id="15" name="Shape 11"/>
          <p:cNvSpPr/>
          <p:nvPr/>
        </p:nvSpPr>
        <p:spPr>
          <a:xfrm>
            <a:off x="5475091" y="3018830"/>
            <a:ext cx="4158853" cy="3815596"/>
          </a:xfrm>
          <a:prstGeom prst="roundRect">
            <a:avLst>
              <a:gd name="adj" fmla="val 941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5714407" y="3258145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1812" y="3455551"/>
            <a:ext cx="323136" cy="3231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14407" y="4215527"/>
            <a:ext cx="368022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Только администратор вносит данные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5714407" y="5063014"/>
            <a:ext cx="36802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Пользователь не может самостоятельно добавить баллы — все записи делает администратор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5455" y="628769"/>
            <a:ext cx="1409700" cy="428030"/>
          </a:xfrm>
          <a:prstGeom prst="roundRect">
            <a:avLst>
              <a:gd name="adj" fmla="val 6292"/>
            </a:avLst>
          </a:prstGeom>
          <a:noFill/>
          <a:ln w="7620">
            <a:solidFill>
              <a:srgbClr val="38512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27616" y="703659"/>
            <a:ext cx="1125379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РЕГИСТРАЦИЯ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5455" y="1140857"/>
            <a:ext cx="11041618" cy="659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Безопасный вход и гибкость доставки кода</a:t>
            </a:r>
            <a:endParaRPr lang="en-US" sz="4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078" y="2116336"/>
            <a:ext cx="7670244" cy="455235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0449" y="3229007"/>
            <a:ext cx="652968" cy="652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18697" y="5623561"/>
            <a:ext cx="1906664" cy="345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Активация</a:t>
            </a:r>
            <a:endParaRPr lang="en-US" sz="2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09977" y="3230231"/>
            <a:ext cx="652968" cy="65296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15777" y="5450932"/>
            <a:ext cx="1906664" cy="6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Получение SMS</a:t>
            </a:r>
            <a:endParaRPr lang="en-US" sz="2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07057" y="3230231"/>
            <a:ext cx="652968" cy="65296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73679" y="5450932"/>
            <a:ext cx="1906665" cy="6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Ввод телефона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85455" y="6905268"/>
            <a:ext cx="13059489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Сейчас для отправки кодов используется сервис </a:t>
            </a:r>
            <a:r>
              <a:rPr lang="en-US" sz="17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TargetSMS</a:t>
            </a:r>
            <a:r>
              <a:rPr lang="en-US" sz="1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Архитектура системы позволяет за один день заменить агрегатора — например, переключиться на </a:t>
            </a:r>
            <a:r>
              <a:rPr lang="en-US" sz="17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МТС Exolve</a:t>
            </a:r>
            <a:r>
              <a:rPr lang="en-US" sz="1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который обеспечивает более высокую скорость и надёжность для организаций.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2655" y="543878"/>
            <a:ext cx="1138238" cy="340638"/>
          </a:xfrm>
          <a:prstGeom prst="roundRect">
            <a:avLst>
              <a:gd name="adj" fmla="val 6588"/>
            </a:avLst>
          </a:prstGeom>
          <a:noFill/>
          <a:ln w="7620">
            <a:solidFill>
              <a:srgbClr val="38512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362432" y="607576"/>
            <a:ext cx="898684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АРХИТЕКТУРА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42655" y="942856"/>
            <a:ext cx="7470577" cy="550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Надёжная и понятная организация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242655" y="1712000"/>
            <a:ext cx="12144970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Система состоит из трёх независимых частей. Каждая отвечает за своё — это упрощает поддержку и развитие.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55" y="2307074"/>
            <a:ext cx="5214223" cy="5214223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655" y="2307074"/>
            <a:ext cx="5214223" cy="52142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13244" y="2530901"/>
            <a:ext cx="2200156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Почему это важно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913244" y="2952025"/>
            <a:ext cx="6474381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Каждый модуль работает независимо. Если нужно изменить способ отправки SMS — это не затронет базу данных или интерфейс администратора.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6913244" y="4059462"/>
            <a:ext cx="6474381" cy="950595"/>
          </a:xfrm>
          <a:prstGeom prst="roundRect">
            <a:avLst>
              <a:gd name="adj" fmla="val 2951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0172" y="4312351"/>
            <a:ext cx="233720" cy="1869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20820" y="4252224"/>
            <a:ext cx="5679877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Разделение на модули позволяет развивать систему без риска сломать существующие функции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181933"/>
            <a:ext cx="859631" cy="449818"/>
          </a:xfrm>
          <a:prstGeom prst="roundRect">
            <a:avLst>
              <a:gd name="adj" fmla="val 6386"/>
            </a:avLst>
          </a:prstGeom>
          <a:solidFill>
            <a:srgbClr val="E2ECDF"/>
          </a:solidFill>
          <a:ln/>
        </p:spPr>
      </p:sp>
      <p:sp>
        <p:nvSpPr>
          <p:cNvPr id="3" name="Text 1"/>
          <p:cNvSpPr/>
          <p:nvPr/>
        </p:nvSpPr>
        <p:spPr>
          <a:xfrm>
            <a:off x="981313" y="1253728"/>
            <a:ext cx="57245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ИТОГИ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72747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Что мы получаем</a:t>
            </a:r>
            <a:endParaRPr lang="en-US" sz="4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497" y="2797909"/>
            <a:ext cx="358973" cy="3589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15559" y="2790468"/>
            <a:ext cx="334101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Честный рейтинг без накруток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3637955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Автоматический расчёт и защита от фейков</a:t>
            </a:r>
            <a:endParaRPr lang="en-US" sz="1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5549" y="2797909"/>
            <a:ext cx="358973" cy="3589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33611" y="2790468"/>
            <a:ext cx="334101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Простая регистрация с подтверждением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033611" y="3637955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SMS-верификация гарантирует реальных участников</a:t>
            </a:r>
            <a:endParaRPr lang="en-US" sz="1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3601" y="2797909"/>
            <a:ext cx="358973" cy="3589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51663" y="2790468"/>
            <a:ext cx="316706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Удобная админ-панель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451663" y="3286006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Быстрое внесение данных и полная история</a:t>
            </a:r>
            <a:endParaRPr lang="en-US" sz="1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497" y="4890195"/>
            <a:ext cx="358973" cy="3589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15559" y="4882753"/>
            <a:ext cx="472952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Наглядный график для мотивации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1615559" y="5378291"/>
            <a:ext cx="554997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Каждый видит свой прогресс в сравнении с другими</a:t>
            </a:r>
            <a:endParaRPr lang="en-US" sz="18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4516" y="4890195"/>
            <a:ext cx="358973" cy="35897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42578" y="4882753"/>
            <a:ext cx="439590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Готовность к масштабированию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8242578" y="5378291"/>
            <a:ext cx="555009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Смена SMS-сервиса без перестройки всей системы</a:t>
            </a:r>
            <a:endParaRPr lang="en-US" sz="1850" dirty="0"/>
          </a:p>
        </p:txBody>
      </p:sp>
      <p:sp>
        <p:nvSpPr>
          <p:cNvPr id="20" name="Shape 13"/>
          <p:cNvSpPr/>
          <p:nvPr/>
        </p:nvSpPr>
        <p:spPr>
          <a:xfrm>
            <a:off x="837724" y="6030516"/>
            <a:ext cx="12954952" cy="1017151"/>
          </a:xfrm>
          <a:prstGeom prst="roundRect">
            <a:avLst>
              <a:gd name="adj" fmla="val 3530"/>
            </a:avLst>
          </a:prstGeom>
          <a:solidFill>
            <a:srgbClr val="B6FCB8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039" y="6379250"/>
            <a:ext cx="299204" cy="23931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615559" y="6329601"/>
            <a:ext cx="119378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Система готова к использованию уже сейчас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339</Words>
  <Application>Microsoft Office PowerPoint</Application>
  <PresentationFormat>Произвольный</PresentationFormat>
  <Paragraphs>60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Lora</vt:lpstr>
      <vt:lpstr>Source Sans 3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user</cp:lastModifiedBy>
  <cp:revision>2</cp:revision>
  <dcterms:created xsi:type="dcterms:W3CDTF">2026-04-24T07:12:55Z</dcterms:created>
  <dcterms:modified xsi:type="dcterms:W3CDTF">2026-04-24T08:19:32Z</dcterms:modified>
</cp:coreProperties>
</file>