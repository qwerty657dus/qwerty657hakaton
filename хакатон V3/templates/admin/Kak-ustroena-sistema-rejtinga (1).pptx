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Lora"/>
      <p:regular r:id="rId16"/>
    </p:embeddedFont>
    <p:embeddedFont>
      <p:font typeface="Lora"/>
      <p:regular r:id="rId17"/>
    </p:embeddedFont>
    <p:embeddedFont>
      <p:font typeface="Lora"/>
      <p:regular r:id="rId18"/>
    </p:embeddedFont>
    <p:embeddedFont>
      <p:font typeface="Lora"/>
      <p:regular r:id="rId19"/>
    </p:embeddedFont>
    <p:embeddedFont>
      <p:font typeface="Source Sans 3"/>
      <p:regular r:id="rId20"/>
    </p:embeddedFont>
    <p:embeddedFont>
      <p:font typeface="Source Sans 3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0.xml"/><Relationship Id="rId1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3118961"/>
            <a:ext cx="1844754" cy="449818"/>
          </a:xfrm>
          <a:prstGeom prst="roundRect">
            <a:avLst>
              <a:gd name="adj" fmla="val 6386"/>
            </a:avLst>
          </a:prstGeom>
          <a:solidFill>
            <a:srgbClr val="E2ECDF"/>
          </a:solidFill>
          <a:ln/>
        </p:spPr>
      </p:sp>
      <p:sp>
        <p:nvSpPr>
          <p:cNvPr id="3" name="Text 1"/>
          <p:cNvSpPr/>
          <p:nvPr/>
        </p:nvSpPr>
        <p:spPr>
          <a:xfrm>
            <a:off x="981313" y="3190756"/>
            <a:ext cx="1557576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ПРОЕКТ «ПТИЧКА»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3664506"/>
            <a:ext cx="866036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Как устроена система рейтинга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472749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Простая регистрация, честные баллы, защита от накруток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484233"/>
            <a:ext cx="942856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3851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8933" y="1563648"/>
            <a:ext cx="640437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ЗАДАЧА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2045018"/>
            <a:ext cx="681382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Что требовалось сделать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37724" y="3108008"/>
            <a:ext cx="4158734" cy="3637240"/>
          </a:xfrm>
          <a:prstGeom prst="roundRect">
            <a:avLst>
              <a:gd name="adj" fmla="val 987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204" y="3138488"/>
            <a:ext cx="4097774" cy="718066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7" name="Text 5"/>
          <p:cNvSpPr/>
          <p:nvPr/>
        </p:nvSpPr>
        <p:spPr>
          <a:xfrm>
            <a:off x="2737604" y="3273147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07519" y="4095869"/>
            <a:ext cx="324362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Автоматический расчёт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07519" y="4591407"/>
            <a:ext cx="361914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Создать систему, где баллы начисляются автоматически по заданным правилам — без ручных правок и ошибок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5235773" y="3108008"/>
            <a:ext cx="4158734" cy="3637240"/>
          </a:xfrm>
          <a:prstGeom prst="roundRect">
            <a:avLst>
              <a:gd name="adj" fmla="val 987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66253" y="3138488"/>
            <a:ext cx="4097774" cy="718066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12" name="Text 10"/>
          <p:cNvSpPr/>
          <p:nvPr/>
        </p:nvSpPr>
        <p:spPr>
          <a:xfrm>
            <a:off x="7135654" y="3273147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505569" y="4095869"/>
            <a:ext cx="315194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Только реальные люди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05569" y="4591407"/>
            <a:ext cx="361914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Гарантировать, что каждый участник — настоящий человек, а не фейковый аккаунт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9633823" y="3108008"/>
            <a:ext cx="4158853" cy="3637240"/>
          </a:xfrm>
          <a:prstGeom prst="roundRect">
            <a:avLst>
              <a:gd name="adj" fmla="val 987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64303" y="3138488"/>
            <a:ext cx="4097893" cy="718066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17" name="Text 15"/>
          <p:cNvSpPr/>
          <p:nvPr/>
        </p:nvSpPr>
        <p:spPr>
          <a:xfrm>
            <a:off x="11533703" y="3273147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903619" y="4095869"/>
            <a:ext cx="361926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Удобство для администратора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903619" y="4943356"/>
            <a:ext cx="361926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Дать администратору простой и понятный инструмент для внесения данных о сданном вторсырье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759029"/>
            <a:ext cx="1086088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3851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8933" y="1838444"/>
            <a:ext cx="783669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РЕЙТИНГ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2319814"/>
            <a:ext cx="742259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Прозрачный расчёт баллов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3382804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Система считает баллы по простой формуле. Каждый тип вторсырья имеет свой коэффициент — например, пластик «стоит» больше, чем бумага.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837724" y="4418052"/>
            <a:ext cx="12954952" cy="1017151"/>
          </a:xfrm>
          <a:prstGeom prst="roundRect">
            <a:avLst>
              <a:gd name="adj" fmla="val 3530"/>
            </a:avLst>
          </a:prstGeom>
          <a:solidFill>
            <a:srgbClr val="B6D6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039" y="4766786"/>
            <a:ext cx="299204" cy="2393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15559" y="4717137"/>
            <a:ext cx="1193780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Формула: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Вес вторсырья × Коэффициент материала = Баллы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37724" y="5704403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Коэффициенты заранее заложены в систему и не могут быть изменены вручную — это гарантирует честность для всех участников.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395055"/>
            <a:ext cx="1648778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3851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8933" y="1474470"/>
            <a:ext cx="1346359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БЕЗОПАСНОСТЬ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1955840"/>
            <a:ext cx="848475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Как мы гарантируем честность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37724" y="3018830"/>
            <a:ext cx="4158734" cy="3815596"/>
          </a:xfrm>
          <a:prstGeom prst="roundRect">
            <a:avLst>
              <a:gd name="adj" fmla="val 941"/>
            </a:avLst>
          </a:prstGeom>
          <a:solidFill>
            <a:srgbClr val="F3E7D4"/>
          </a:solidFill>
          <a:ln/>
        </p:spPr>
      </p:sp>
      <p:sp>
        <p:nvSpPr>
          <p:cNvPr id="6" name="Shape 4"/>
          <p:cNvSpPr/>
          <p:nvPr/>
        </p:nvSpPr>
        <p:spPr>
          <a:xfrm>
            <a:off x="1077039" y="3258145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38512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4445" y="3455551"/>
            <a:ext cx="323136" cy="3231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7039" y="4215527"/>
            <a:ext cx="336018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Подтверждённый номер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77039" y="4711065"/>
            <a:ext cx="36801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Только пользователи, подтвердившие номер телефона через SMS, участвуют в рейтинге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5235773" y="3018830"/>
            <a:ext cx="4158734" cy="3815596"/>
          </a:xfrm>
          <a:prstGeom prst="roundRect">
            <a:avLst>
              <a:gd name="adj" fmla="val 941"/>
            </a:avLst>
          </a:prstGeom>
          <a:solidFill>
            <a:srgbClr val="F3E7D4"/>
          </a:solidFill>
          <a:ln/>
        </p:spPr>
      </p:sp>
      <p:sp>
        <p:nvSpPr>
          <p:cNvPr id="11" name="Shape 8"/>
          <p:cNvSpPr/>
          <p:nvPr/>
        </p:nvSpPr>
        <p:spPr>
          <a:xfrm>
            <a:off x="5475089" y="3258145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38512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2495" y="3455551"/>
            <a:ext cx="323136" cy="3231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75089" y="4215527"/>
            <a:ext cx="36801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Нулевые баллы без верификации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475089" y="5063014"/>
            <a:ext cx="36801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Баллы неподтверждённых пользователей всегда равны нулю — накрутить невозможно</a:t>
            </a:r>
            <a:endParaRPr lang="en-US" sz="1850" dirty="0"/>
          </a:p>
        </p:txBody>
      </p:sp>
      <p:sp>
        <p:nvSpPr>
          <p:cNvPr id="15" name="Shape 11"/>
          <p:cNvSpPr/>
          <p:nvPr/>
        </p:nvSpPr>
        <p:spPr>
          <a:xfrm>
            <a:off x="9633823" y="3018830"/>
            <a:ext cx="4158853" cy="3815596"/>
          </a:xfrm>
          <a:prstGeom prst="roundRect">
            <a:avLst>
              <a:gd name="adj" fmla="val 941"/>
            </a:avLst>
          </a:prstGeom>
          <a:solidFill>
            <a:srgbClr val="F3E7D4"/>
          </a:solidFill>
          <a:ln/>
        </p:spPr>
      </p:sp>
      <p:sp>
        <p:nvSpPr>
          <p:cNvPr id="16" name="Shape 12"/>
          <p:cNvSpPr/>
          <p:nvPr/>
        </p:nvSpPr>
        <p:spPr>
          <a:xfrm>
            <a:off x="9873139" y="3258145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38512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70544" y="3455551"/>
            <a:ext cx="323136" cy="3231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73139" y="4215527"/>
            <a:ext cx="368022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Только администратор вносит данные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9873139" y="5063014"/>
            <a:ext cx="368022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Пользователь не может самостоятельно добавить баллы — все записи делает администратор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5455" y="628769"/>
            <a:ext cx="1409700" cy="428030"/>
          </a:xfrm>
          <a:prstGeom prst="roundRect">
            <a:avLst>
              <a:gd name="adj" fmla="val 6292"/>
            </a:avLst>
          </a:prstGeom>
          <a:noFill/>
          <a:ln w="7620">
            <a:solidFill>
              <a:srgbClr val="3851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7616" y="703659"/>
            <a:ext cx="1125379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РЕГИСТРАЦИЯ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5455" y="1140857"/>
            <a:ext cx="11041618" cy="659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Безопасный вход и гибкость доставки кода</a:t>
            </a:r>
            <a:endParaRPr lang="en-US" sz="4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0078" y="2116336"/>
            <a:ext cx="7670244" cy="455235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0449" y="3229007"/>
            <a:ext cx="652968" cy="652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18697" y="5623561"/>
            <a:ext cx="1906664" cy="345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Активация</a:t>
            </a:r>
            <a:endParaRPr lang="en-US" sz="2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09977" y="3230231"/>
            <a:ext cx="652968" cy="65296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15777" y="5450932"/>
            <a:ext cx="1906664" cy="6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Получение SMS</a:t>
            </a:r>
            <a:endParaRPr lang="en-US" sz="2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07057" y="3230231"/>
            <a:ext cx="652968" cy="65296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73679" y="5450932"/>
            <a:ext cx="1906665" cy="6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Ввод телефона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85455" y="6905268"/>
            <a:ext cx="13059489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Сейчас для отправки кодов используется сервис </a:t>
            </a:r>
            <a:pPr algn="l" indent="0" marL="0">
              <a:lnSpc>
                <a:spcPts val="2700"/>
              </a:lnSpc>
              <a:buNone/>
            </a:pPr>
            <a:r>
              <a:rPr lang="en-US" sz="17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TargetSMS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Архитектура системы позволяет за один день заменить агрегатора — например, переключиться на </a:t>
            </a:r>
            <a:pPr algn="l" indent="0" marL="0">
              <a:lnSpc>
                <a:spcPts val="2700"/>
              </a:lnSpc>
              <a:buNone/>
            </a:pPr>
            <a:r>
              <a:rPr lang="en-US" sz="17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МТС Exolve</a:t>
            </a:r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который обеспечивает более высокую скорость и надёжность для организаций.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669852"/>
            <a:ext cx="2291239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3851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8933" y="1749266"/>
            <a:ext cx="198882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АДМИНИСТРИРОВАНИЕ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2230636"/>
            <a:ext cx="864750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Рабочее место администратора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303037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Как это работает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3741301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Администратор выбирает пользователя, тип вторсырья и вес — баллы начисляются мгновенно. Никаких сложных формул, всё происходит автоматически.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4776549"/>
            <a:ext cx="12954952" cy="1783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Выбор участника из списка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Указание типа и веса вторсырья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Мгновенное начисление баллов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Вся история сохраняется и доступна для просмотра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922734"/>
            <a:ext cx="1368266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3851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8933" y="1002149"/>
            <a:ext cx="1065848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МОТИВАЦИЯ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1483519"/>
            <a:ext cx="858607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Динамика на главной странице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37724" y="2815709"/>
            <a:ext cx="606623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064" y="2852261"/>
            <a:ext cx="91440" cy="91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2984" y="2838569"/>
            <a:ext cx="378023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A363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Среднее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505307" y="2815709"/>
            <a:ext cx="357902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47" y="2852261"/>
            <a:ext cx="91440" cy="91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80567" y="2838569"/>
            <a:ext cx="129302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A363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Вы</a:t>
            </a:r>
            <a:endParaRPr lang="en-US" sz="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056453"/>
            <a:ext cx="7539395" cy="44290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68621" y="2785824"/>
            <a:ext cx="383786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Что видит каждый участник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8968621" y="3377089"/>
            <a:ext cx="483155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Каждый видит, сколько килограммов он сдал по дням — и как это соотносится со средним показателем всех участников.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968621" y="4741545"/>
            <a:ext cx="483155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Данные обновляются автоматически. Это мотивирует сдавать больше и следить за своим прогрессом.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2655" y="543878"/>
            <a:ext cx="1138238" cy="340638"/>
          </a:xfrm>
          <a:prstGeom prst="roundRect">
            <a:avLst>
              <a:gd name="adj" fmla="val 6588"/>
            </a:avLst>
          </a:prstGeom>
          <a:noFill/>
          <a:ln w="7620">
            <a:solidFill>
              <a:srgbClr val="3851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62432" y="607576"/>
            <a:ext cx="898684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АРХИТЕКТУРА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42655" y="942856"/>
            <a:ext cx="7470577" cy="550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Надёжная и понятная организация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242655" y="1712000"/>
            <a:ext cx="12144970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Система состоит из трёх независимых частей. Каждая отвечает за своё — это упрощает поддержку и развитие.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655" y="2307074"/>
            <a:ext cx="5214223" cy="5214223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655" y="2307074"/>
            <a:ext cx="5214223" cy="52142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20746" y="3870603"/>
            <a:ext cx="2200156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Почему это важно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920746" y="4291727"/>
            <a:ext cx="6474381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Каждый модуль работает независимо. Если нужно изменить способ отправки SMS — это не затронет базу данных или интерфейс администратора.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920746" y="4988957"/>
            <a:ext cx="6474381" cy="950595"/>
          </a:xfrm>
          <a:prstGeom prst="roundRect">
            <a:avLst>
              <a:gd name="adj" fmla="val 2951"/>
            </a:avLst>
          </a:prstGeom>
          <a:solidFill>
            <a:srgbClr val="B6FCB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674" y="5241846"/>
            <a:ext cx="233720" cy="1869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28322" y="5181719"/>
            <a:ext cx="5679877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Разделение на модули позволяет развивать систему без риска сломать существующие функции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880" y="569952"/>
            <a:ext cx="724972" cy="359212"/>
          </a:xfrm>
          <a:prstGeom prst="roundRect">
            <a:avLst>
              <a:gd name="adj" fmla="val 6747"/>
            </a:avLst>
          </a:prstGeom>
          <a:solidFill>
            <a:srgbClr val="E2ECDF"/>
          </a:solidFill>
          <a:ln/>
        </p:spPr>
      </p:sp>
      <p:sp>
        <p:nvSpPr>
          <p:cNvPr id="3" name="Text 1"/>
          <p:cNvSpPr/>
          <p:nvPr/>
        </p:nvSpPr>
        <p:spPr>
          <a:xfrm>
            <a:off x="877967" y="630436"/>
            <a:ext cx="48279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ИТОГИ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56880" y="997268"/>
            <a:ext cx="4752380" cy="594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Что мы получаем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604" y="1853327"/>
            <a:ext cx="302895" cy="302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3153" y="1847017"/>
            <a:ext cx="3545443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Честный рейтинг без накруток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413153" y="2246233"/>
            <a:ext cx="12460367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Автоматический расчёт и защита от фейков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604" y="2891076"/>
            <a:ext cx="302895" cy="3028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3153" y="2884765"/>
            <a:ext cx="4717852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Простая регистрация с подтверждением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1413153" y="3283982"/>
            <a:ext cx="12460367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SMS-верификация гарантирует реальных участников</a:t>
            </a:r>
            <a:endParaRPr lang="en-US" sz="1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04" y="3928824"/>
            <a:ext cx="302895" cy="3028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3153" y="3922514"/>
            <a:ext cx="2672715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Удобная админ-панель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1413153" y="4321731"/>
            <a:ext cx="12460367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Быстрое внесение данных и полная история</a:t>
            </a:r>
            <a:endParaRPr lang="en-US" sz="15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2604" y="4966573"/>
            <a:ext cx="302895" cy="30289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3153" y="4960263"/>
            <a:ext cx="3991213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Наглядный график для мотивации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1413153" y="5359479"/>
            <a:ext cx="12460367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Каждый видит свой прогресс в сравнении с другими</a:t>
            </a:r>
            <a:endParaRPr lang="en-US" sz="15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2604" y="6004322"/>
            <a:ext cx="302895" cy="30289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13153" y="5998012"/>
            <a:ext cx="3709749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Готовность к масштабированию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1413153" y="6397228"/>
            <a:ext cx="12460367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Смена SMS-сервиса без перестройки всей системы</a:t>
            </a:r>
            <a:endParaRPr lang="en-US" sz="1550" dirty="0"/>
          </a:p>
        </p:txBody>
      </p:sp>
      <p:sp>
        <p:nvSpPr>
          <p:cNvPr id="20" name="Shape 13"/>
          <p:cNvSpPr/>
          <p:nvPr/>
        </p:nvSpPr>
        <p:spPr>
          <a:xfrm>
            <a:off x="756880" y="6886694"/>
            <a:ext cx="13116639" cy="772954"/>
          </a:xfrm>
          <a:prstGeom prst="roundRect">
            <a:avLst>
              <a:gd name="adj" fmla="val 3920"/>
            </a:avLst>
          </a:prstGeom>
          <a:solidFill>
            <a:srgbClr val="B6FCB8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8810" y="7168158"/>
            <a:ext cx="252413" cy="20193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13153" y="7107555"/>
            <a:ext cx="12258437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Система готова к использованию уже сейчас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2026-04-24T07:12:55Z</dcterms:created>
  <dcterms:modified xsi:type="dcterms:W3CDTF">2026-04-24T07:12:55Z</dcterms:modified>
</cp:coreProperties>
</file>